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Aptos Display"/>
              </a:defRPr>
            </a:lvl1pPr>
          </a:lstStyle>
          <a:p>
            <a:pPr indent="0" algn="ctr"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16/10/2026</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8AB6D850-48D0-4A37-A927-4C5FC113B86C}" type="slidenum">
              <a:rPr lang="en-IN" sz="1200" b="0" u="none" strike="noStrike">
                <a:solidFill>
                  <a:schemeClr val="dk1">
                    <a:tint val="82000"/>
                  </a:schemeClr>
                </a:solidFill>
                <a:effectLst/>
                <a:uFillTx/>
                <a:latin typeface="Aptos"/>
              </a:rPr>
              <a:t>12</a:t>
            </a:fld>
            <a:endParaRPr lang="en-IN" sz="1200" b="0" u="none" strike="noStrike">
              <a:solidFill>
                <a:srgbClr val="000000"/>
              </a:solidFill>
              <a:effectLst/>
              <a:uFillTx/>
              <a:latin typeface="Times New Roman"/>
            </a:endParaRPr>
          </a:p>
        </p:txBody>
      </p:sp>
      <p:pic>
        <p:nvPicPr>
          <p:cNvPr id="6" name="Picture 7"/>
          <p:cNvPicPr/>
          <p:nvPr/>
        </p:nvPicPr>
        <p:blipFill>
          <a:blip r:embed="rId2"/>
          <a:stretch/>
        </p:blipFill>
        <p:spPr>
          <a:xfrm>
            <a:off x="74160" y="-164520"/>
            <a:ext cx="1215000" cy="1122120"/>
          </a:xfrm>
          <a:prstGeom prst="rect">
            <a:avLst/>
          </a:prstGeom>
          <a:noFill/>
          <a:ln w="0">
            <a:noFill/>
          </a:ln>
        </p:spPr>
      </p:pic>
      <p:sp>
        <p:nvSpPr>
          <p:cNvPr id="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9"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0"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1"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4E1EA40E-5998-4523-B8CE-750B04D37CD0}"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13" name="Picture 7"/>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5"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6"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7"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8"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B8831C67-278C-48BB-AD4A-A29DAF5E0784}"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0"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1"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2"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3"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E9FB7E55-19C2-4819-B314-8255E009B1EF}"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24" name="Picture 7"/>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Aptos Display"/>
              </a:defRPr>
            </a:lvl1pPr>
          </a:lstStyle>
          <a:p>
            <a:pPr indent="0" algn="l"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26"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27"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8"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9"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BAD4CA81-1C1F-4CF3-B633-DBC3D2E960B4}"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30" name="Picture 7"/>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2"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3"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4"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5"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6"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9C00E932-955E-4A05-8F35-084CCEFD464B}"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37" name="Picture 8"/>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D41154B4-DBE1-4906-9CBE-4D520674228C}"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46" name="Picture 10"/>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8"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9"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0"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115B7A60-9170-4D1D-865A-660DDF85B43E}"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51" name="Picture 6"/>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3"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0BDFF3E8-BE05-478D-9C16-8B3CB1E63705}"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55" name="Picture 5"/>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57"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58"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9"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0"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1"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8FA08773-ED27-4E4E-A553-35E506ED6740}"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pic>
        <p:nvPicPr>
          <p:cNvPr id="62" name="Picture 8"/>
          <p:cNvPicPr/>
          <p:nvPr/>
        </p:nvPicPr>
        <p:blipFill>
          <a:blip r:embed="rId2"/>
          <a:stretch/>
        </p:blipFill>
        <p:spPr>
          <a:xfrm>
            <a:off x="74160" y="-164520"/>
            <a:ext cx="1215000" cy="112212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64" name="PlaceHolder 2"/>
          <p:cNvSpPr>
            <a:spLocks noGrp="1"/>
          </p:cNvSpPr>
          <p:nvPr>
            <p:ph type="pic"/>
          </p:nvPr>
        </p:nvSpPr>
        <p:spPr>
          <a:xfrm>
            <a:off x="5183280" y="987480"/>
            <a:ext cx="6171840" cy="4873320"/>
          </a:xfrm>
          <a:prstGeom prst="rect">
            <a:avLst/>
          </a:prstGeom>
          <a:noFill/>
          <a:ln w="0">
            <a:noFill/>
          </a:ln>
        </p:spPr>
        <p:txBody>
          <a:bodyPr lIns="90000" tIns="45000" rIns="90000" bIns="45000" anchor="t">
            <a:noAutofit/>
          </a:bodyPr>
          <a:p>
            <a:pPr indent="0" algn="l">
              <a:buNone/>
            </a:pPr>
            <a:r>
              <a:rPr lang="en-IN" sz="3200" b="0" u="none" strike="noStrike">
                <a:solidFill>
                  <a:srgbClr val="000000"/>
                </a:solidFill>
                <a:effectLst/>
                <a:uFillTx/>
                <a:latin typeface="Arial"/>
              </a:rPr>
              <a:t>Double-click to add an Image</a:t>
            </a:r>
            <a:endParaRPr lang="en-IN" sz="3200" b="0" u="none" strike="noStrike">
              <a:solidFill>
                <a:srgbClr val="000000"/>
              </a:solidFill>
              <a:effectLst/>
              <a:uFillTx/>
              <a:latin typeface="Arial"/>
            </a:endParaRPr>
          </a:p>
        </p:txBody>
      </p:sp>
      <p:sp>
        <p:nvSpPr>
          <p:cNvPr id="6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6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IN" sz="1200" b="0" u="none" strike="noStrike">
                <a:solidFill>
                  <a:schemeClr val="dk1">
                    <a:tint val="82000"/>
                  </a:schemeClr>
                </a:solidFill>
                <a:effectLst/>
                <a:uFillTx/>
                <a:latin typeface="Aptos"/>
              </a:defRPr>
            </a:lvl1pPr>
          </a:lstStyle>
          <a:p>
            <a:pPr indent="0" algn="l" defTabSz="914400">
              <a:lnSpc>
                <a:spcPct val="100000"/>
              </a:lnSpc>
              <a:buNone/>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A9D45485-08F2-469E-94EC-F329B3825E0B}" type="slidenum">
              <a:rPr lang="en-IN" sz="1200" b="0" u="none" strike="noStrike">
                <a:solidFill>
                  <a:schemeClr val="dk1">
                    <a:tint val="82000"/>
                  </a:schemeClr>
                </a:solidFill>
                <a:effectLst/>
                <a:uFillTx/>
                <a:latin typeface="Aptos"/>
              </a:rPr>
              <a:t>&lt;number&gt;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p>
            <a:pPr indent="0" algn="ctr" defTabSz="914400">
              <a:lnSpc>
                <a:spcPct val="90000"/>
              </a:lnSpc>
              <a:buNone/>
            </a:pPr>
            <a:r>
              <a:rPr lang="en-IN" sz="6000" b="0" u="none" strike="noStrike">
                <a:solidFill>
                  <a:schemeClr val="dk1"/>
                </a:solidFill>
                <a:effectLst/>
                <a:uFillTx/>
                <a:latin typeface="Aptos Display"/>
              </a:rPr>
              <a:t>Car Rental Fleet Management</a:t>
            </a:r>
            <a:endParaRPr lang="en-US" sz="6000" b="0" u="none" strike="noStrike">
              <a:solidFill>
                <a:schemeClr val="dk1"/>
              </a:solidFill>
              <a:effectLst/>
              <a:uFillTx/>
              <a:latin typeface="Aptos Display"/>
            </a:endParaRPr>
          </a:p>
        </p:txBody>
      </p:sp>
      <p:sp>
        <p:nvSpPr>
          <p:cNvPr id="70"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Autofit/>
          </a:bodyPr>
          <a:p>
            <a:pPr indent="0" algn="ctr" defTabSz="914400">
              <a:lnSpc>
                <a:spcPct val="90000"/>
              </a:lnSpc>
              <a:spcBef>
                <a:spcPts val="1001"/>
              </a:spcBef>
              <a:buNone/>
              <a:tabLst>
                <a:tab pos="0" algn="l"/>
              </a:tabLst>
            </a:pPr>
            <a:r>
              <a:rPr lang="en-IN" sz="2400" b="0" u="none" strike="noStrike">
                <a:solidFill>
                  <a:schemeClr val="dk1"/>
                </a:solidFill>
                <a:effectLst/>
                <a:uFillTx/>
                <a:latin typeface="Aptos"/>
              </a:rPr>
              <a:t>Vadlapatla Jaswin</a:t>
            </a:r>
            <a:r>
              <a:rPr lang="en-IN" sz="2400" b="0" u="none" strike="noStrike">
                <a:solidFill>
                  <a:schemeClr val="dk1"/>
                </a:solidFill>
                <a:effectLst/>
                <a:uFillTx/>
                <a:latin typeface="Aptos"/>
              </a:rPr>
              <a:t>	</a:t>
            </a:r>
            <a:r>
              <a:rPr lang="en-IN" sz="2400" b="0" u="none" strike="noStrike">
                <a:solidFill>
                  <a:schemeClr val="dk1"/>
                </a:solidFill>
                <a:effectLst/>
                <a:uFillTx/>
                <a:latin typeface="Aptos"/>
              </a:rPr>
              <a:t>2620030148</a:t>
            </a:r>
            <a:endParaRPr lang="en-IN" sz="2400" b="0" u="none" strike="noStrike">
              <a:solidFill>
                <a:schemeClr val="dk1"/>
              </a:solidFill>
              <a:effectLst/>
              <a:uFillTx/>
              <a:latin typeface="Aptos"/>
            </a:endParaRPr>
          </a:p>
          <a:p>
            <a:pPr indent="0" algn="ctr" defTabSz="914400">
              <a:lnSpc>
                <a:spcPct val="90000"/>
              </a:lnSpc>
              <a:spcBef>
                <a:spcPts val="1001"/>
              </a:spcBef>
              <a:buNone/>
              <a:tabLst>
                <a:tab pos="0" algn="l"/>
              </a:tabLst>
            </a:pPr>
            <a:r>
              <a:rPr lang="en-IN" sz="2400" b="0" u="none" strike="noStrike">
                <a:solidFill>
                  <a:schemeClr val="dk1"/>
                </a:solidFill>
                <a:effectLst/>
                <a:uFillTx/>
                <a:latin typeface="Aptos"/>
              </a:rPr>
              <a:t>Viswa Aditya</a:t>
            </a:r>
            <a:r>
              <a:rPr lang="en-IN" sz="2400" b="0" u="none" strike="noStrike">
                <a:solidFill>
                  <a:schemeClr val="dk1"/>
                </a:solidFill>
                <a:effectLst/>
                <a:uFillTx/>
                <a:latin typeface="Aptos"/>
              </a:rPr>
              <a:t>	</a:t>
            </a:r>
            <a:r>
              <a:rPr lang="en-IN" sz="2400" b="0" u="none" strike="noStrike">
                <a:solidFill>
                  <a:schemeClr val="dk1"/>
                </a:solidFill>
                <a:effectLst/>
                <a:uFillTx/>
                <a:latin typeface="Aptos"/>
              </a:rPr>
              <a:t>2620040108</a:t>
            </a:r>
            <a:endParaRPr lang="en-IN" sz="2400" b="0" u="none" strike="noStrike">
              <a:solidFill>
                <a:schemeClr val="dk1"/>
              </a:solidFill>
              <a:effectLst/>
              <a:uFillTx/>
              <a:latin typeface="Aptos"/>
            </a:endParaRPr>
          </a:p>
        </p:txBody>
      </p:sp>
      <p:sp>
        <p:nvSpPr>
          <p:cNvPr id="4" name="PlaceHolder 3"/>
          <p:cNvSpPr>
            <a:spLocks noGrp="1"/>
          </p:cNvSpPr>
          <p:nvPr>
            <p:ph type="sldNum" idx="3"/>
          </p:nvPr>
        </p:nvSpPr>
        <p:spPr/>
        <p:txBody>
          <a:bodyPr/>
          <a:p>
            <a:fld id="{0794CFF4-EC64-45D4-9488-421116DABF6E}" type="slidenum">
              <a:t>1</a:t>
            </a:fld>
          </a:p>
        </p:txBody>
      </p:sp>
      <p:sp>
        <p:nvSpPr>
          <p:cNvPr id="5" name="PlaceHolder 4"/>
          <p:cNvSpPr>
            <a:spLocks noGrp="1"/>
          </p:cNvSpPr>
          <p:nvPr>
            <p:ph type="dt" idx="1"/>
          </p:nvPr>
        </p:nvSpPr>
        <p:spPr/>
        <p:txBody>
          <a:bodyPr/>
          <a:p>
            <a:fld id="{37C75C15-D74E-4B63-8A7C-2D504296797F}" type="datetime1">
              <a:rPr lang="en-IN"/>
              <a:t>16/10/2026</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Abstract</a:t>
            </a:r>
            <a:endParaRPr lang="en-US" sz="4400" b="0" u="none" strike="noStrike">
              <a:solidFill>
                <a:schemeClr val="dk1"/>
              </a:solidFill>
              <a:effectLst/>
              <a:uFillTx/>
              <a:latin typeface="Aptos Display"/>
            </a:endParaRPr>
          </a:p>
        </p:txBody>
      </p:sp>
      <p:sp>
        <p:nvSpPr>
          <p:cNvPr id="72"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77500" lnSpcReduction="19999"/>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This project is a simple Car Rental Fleet Manager program that helps a rental business keep track of its cars, bookings, and returns without the usual paperwork hassle. It lets the admin add new cars to the fleet, rent them out to customers, process returns, and keep an eye on which vehicles need maintenance.</a:t>
            </a:r>
            <a:br>
              <a:rPr sz="2800"/>
            </a:br>
            <a:br>
              <a:rPr sz="2800"/>
            </a:br>
            <a:r>
              <a:rPr lang="en-US" sz="2800" b="0" u="none" strike="noStrike">
                <a:solidFill>
                  <a:schemeClr val="dk1"/>
                </a:solidFill>
                <a:effectLst/>
                <a:uFillTx/>
                <a:latin typeface="Aptos"/>
              </a:rPr>
              <a:t>To make all this work smoothly, the program relies on some basic but powerful programming logic. Whenever someone wants to rent a car, an if-else check makes sure that car is actually free before confirming the booking, so two people can't accidentally book the same vehicle. A switch statement is used to sort cars by type—like hatchback, sedan, or SUV—so each one can be rented at the right price. To help the admin see the entire fleet at a glance, a for loop goes through the list of cars and displays them all, showing what's available and what's already rented out. And to keep the whole system running smoothly, a while loop keeps the program active in a loop, letting the user rent, return, or check on cars again and again until they decide to exit.</a:t>
            </a:r>
            <a:endParaRPr lang="en-US" sz="2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07ABDD69-3DB1-490F-9128-D90D74C37865}" type="slidenum">
              <a:t>2</a:t>
            </a:fld>
          </a:p>
        </p:txBody>
      </p:sp>
      <p:sp>
        <p:nvSpPr>
          <p:cNvPr id="5" name="PlaceHolder 4"/>
          <p:cNvSpPr>
            <a:spLocks noGrp="1"/>
          </p:cNvSpPr>
          <p:nvPr>
            <p:ph type="dt" idx="10"/>
          </p:nvPr>
        </p:nvSpPr>
        <p:spPr/>
        <p:txBody>
          <a:bodyPr/>
          <a:p>
            <a:fld id="{3663BE05-185A-46CB-9B56-2D32F82D344F}" type="datetime1">
              <a:rPr lang="en-IN"/>
              <a:t>16/10/2026</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Understanding Problem Statement</a:t>
            </a:r>
            <a:endParaRPr lang="en-US" sz="4400" b="0" u="none" strike="noStrike">
              <a:solidFill>
                <a:schemeClr val="dk1"/>
              </a:solidFill>
              <a:effectLst/>
              <a:uFillTx/>
              <a:latin typeface="Aptos Display"/>
            </a:endParaRPr>
          </a:p>
        </p:txBody>
      </p:sp>
      <p:sp>
        <p:nvSpPr>
          <p:cNvPr id="74"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Manual tracking is error-prone: </a:t>
            </a:r>
            <a:r>
              <a:rPr lang="en-IN" sz="2000" b="0" u="none" strike="noStrike">
                <a:solidFill>
                  <a:schemeClr val="dk1"/>
                </a:solidFill>
                <a:effectLst/>
                <a:uFillTx/>
                <a:latin typeface="Aptos"/>
              </a:rPr>
              <a:t>keeping track of cars, bookings and returns on paper is slow and leads to mistakes.</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Double booking risk: </a:t>
            </a:r>
            <a:r>
              <a:rPr lang="en-IN" sz="2000" b="0" u="none" strike="noStrike">
                <a:solidFill>
                  <a:schemeClr val="dk1"/>
                </a:solidFill>
                <a:effectLst/>
                <a:uFillTx/>
                <a:latin typeface="Aptos"/>
              </a:rPr>
              <a:t>two customers can accidentally book the same vehicle if availability is not checked.</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Charges vary: </a:t>
            </a:r>
            <a:r>
              <a:rPr lang="en-IN" sz="2000" b="0" u="none" strike="noStrike">
                <a:solidFill>
                  <a:schemeClr val="dk1"/>
                </a:solidFill>
                <a:effectLst/>
                <a:uFillTx/>
                <a:latin typeface="Aptos"/>
              </a:rPr>
              <a:t>the total depends on days rented, the rate for each vehicle type, and late fees.</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Maintenance gaps: </a:t>
            </a:r>
            <a:r>
              <a:rPr lang="en-IN" sz="2000" b="0" u="none" strike="noStrike">
                <a:solidFill>
                  <a:schemeClr val="dk1"/>
                </a:solidFill>
                <a:effectLst/>
                <a:uFillTx/>
                <a:latin typeface="Aptos"/>
              </a:rPr>
              <a:t>cars that need service must be flagged and kept out of circulation until cleared.</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Goal: </a:t>
            </a:r>
            <a:r>
              <a:rPr lang="en-IN" sz="2000" b="0" u="none" strike="noStrike">
                <a:solidFill>
                  <a:schemeClr val="dk1"/>
                </a:solidFill>
                <a:effectLst/>
                <a:uFillTx/>
                <a:latin typeface="Aptos"/>
              </a:rPr>
              <a:t>a Java program that handles the fleet, rentals, returns and maintenance using control statements.</a:t>
            </a:r>
            <a:endParaRPr lang="en-US" sz="20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C399E775-15D0-482F-99BD-9A4307335A41}" type="slidenum">
              <a:t>3</a:t>
            </a:fld>
          </a:p>
        </p:txBody>
      </p:sp>
      <p:sp>
        <p:nvSpPr>
          <p:cNvPr id="5" name="PlaceHolder 4"/>
          <p:cNvSpPr>
            <a:spLocks noGrp="1"/>
          </p:cNvSpPr>
          <p:nvPr>
            <p:ph type="dt" idx="10"/>
          </p:nvPr>
        </p:nvSpPr>
        <p:spPr/>
        <p:txBody>
          <a:bodyPr/>
          <a:p>
            <a:fld id="{255BC0B3-848F-45B7-B04C-C02D898B8937}" type="datetime1">
              <a:rPr lang="en-IN"/>
              <a:t>16/10/2026</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Module 1: From Problem to Program</a:t>
            </a:r>
            <a:endParaRPr lang="en-US" sz="4400" b="0" u="none" strike="noStrike">
              <a:solidFill>
                <a:schemeClr val="dk1"/>
              </a:solidFill>
              <a:effectLst/>
              <a:uFillTx/>
              <a:latin typeface="Aptos Display"/>
            </a:endParaRPr>
          </a:p>
        </p:txBody>
      </p:sp>
      <p:sp>
        <p:nvSpPr>
          <p:cNvPr id="7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Problem solving: </a:t>
            </a:r>
            <a:r>
              <a:rPr lang="en-IN" sz="1800" b="0" u="none" strike="noStrike">
                <a:solidFill>
                  <a:schemeClr val="dk1"/>
                </a:solidFill>
                <a:effectLst/>
                <a:uFillTx/>
                <a:latin typeface="Aptos"/>
              </a:rPr>
              <a:t>computational thinking, algorithm and flowchart</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Java basics: </a:t>
            </a:r>
            <a:r>
              <a:rPr lang="en-IN" sz="1800" b="0" u="none" strike="noStrike">
                <a:solidFill>
                  <a:schemeClr val="dk1"/>
                </a:solidFill>
                <a:effectLst/>
                <a:uFillTx/>
                <a:latin typeface="Aptos"/>
              </a:rPr>
              <a:t>Java environment, program structure, primitive data types, variables, constants, literals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Operators: </a:t>
            </a:r>
            <a:r>
              <a:rPr lang="en-IN" sz="1800" b="0" u="none" strike="noStrike">
                <a:solidFill>
                  <a:schemeClr val="dk1"/>
                </a:solidFill>
                <a:effectLst/>
                <a:uFillTx/>
                <a:latin typeface="Aptos"/>
              </a:rPr>
              <a:t>arithmetic, relational, logical, assignment, ternary, unary, special, bitwise</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Expressions: </a:t>
            </a:r>
            <a:r>
              <a:rPr lang="en-IN" sz="1800" b="0" u="none" strike="noStrike">
                <a:solidFill>
                  <a:schemeClr val="dk1"/>
                </a:solidFill>
                <a:effectLst/>
                <a:uFillTx/>
                <a:latin typeface="Aptos"/>
              </a:rPr>
              <a:t>typecasting, precedence and associativity</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Console I/O: </a:t>
            </a:r>
            <a:r>
              <a:rPr lang="en-IN" sz="1800" b="0" u="none" strike="noStrike">
                <a:solidFill>
                  <a:schemeClr val="dk1"/>
                </a:solidFill>
                <a:effectLst/>
                <a:uFillTx/>
                <a:latin typeface="Aptos"/>
              </a:rPr>
              <a:t>formatted printing, reading input with Scanner</a:t>
            </a:r>
            <a:endParaRPr lang="en-US" sz="1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C52BAE03-971D-4CE7-85AA-70D2A6869727}" type="slidenum">
              <a:t>4</a:t>
            </a:fld>
          </a:p>
        </p:txBody>
      </p:sp>
      <p:sp>
        <p:nvSpPr>
          <p:cNvPr id="5" name="PlaceHolder 4"/>
          <p:cNvSpPr>
            <a:spLocks noGrp="1"/>
          </p:cNvSpPr>
          <p:nvPr>
            <p:ph type="dt" idx="10"/>
          </p:nvPr>
        </p:nvSpPr>
        <p:spPr/>
        <p:txBody>
          <a:bodyPr/>
          <a:p>
            <a:fld id="{593F0B6A-03BF-4ACE-A1D3-E1DE6F7F730A}" type="datetime1">
              <a:rPr lang="en-IN"/>
              <a:t>16/10/2026</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Module 2: Control Flow</a:t>
            </a:r>
            <a:endParaRPr lang="en-US" sz="4400" b="0" u="none" strike="noStrike">
              <a:solidFill>
                <a:schemeClr val="dk1"/>
              </a:solidFill>
              <a:effectLst/>
              <a:uFillTx/>
              <a:latin typeface="Aptos Display"/>
            </a:endParaRPr>
          </a:p>
        </p:txBody>
      </p:sp>
      <p:sp>
        <p:nvSpPr>
          <p:cNvPr id="7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Selection: </a:t>
            </a:r>
            <a:r>
              <a:rPr lang="en-IN" sz="1800" b="0" u="none" strike="noStrike">
                <a:solidFill>
                  <a:schemeClr val="dk1"/>
                </a:solidFill>
                <a:effectLst/>
                <a:uFillTx/>
                <a:latin typeface="Aptos"/>
              </a:rPr>
              <a:t>if, if-else, nested-if, if-else-if ladder</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Switch: </a:t>
            </a:r>
            <a:r>
              <a:rPr lang="en-IN" sz="1800" b="0" u="none" strike="noStrike">
                <a:solidFill>
                  <a:schemeClr val="dk1"/>
                </a:solidFill>
                <a:effectLst/>
                <a:uFillTx/>
                <a:latin typeface="Aptos"/>
              </a:rPr>
              <a:t>default, break, compound statements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Loops: </a:t>
            </a:r>
            <a:r>
              <a:rPr lang="en-IN" sz="1800" b="0" u="none" strike="noStrike">
                <a:solidFill>
                  <a:schemeClr val="dk1"/>
                </a:solidFill>
                <a:effectLst/>
                <a:uFillTx/>
                <a:latin typeface="Aptos"/>
              </a:rPr>
              <a:t>while, do-while, for</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Loop control: </a:t>
            </a:r>
            <a:r>
              <a:rPr lang="en-IN" sz="1800" b="0" u="none" strike="noStrike">
                <a:solidFill>
                  <a:schemeClr val="dk1"/>
                </a:solidFill>
                <a:effectLst/>
                <a:uFillTx/>
                <a:latin typeface="Aptos"/>
              </a:rPr>
              <a:t>continue, infinite loops, nested loops</a:t>
            </a:r>
            <a:endParaRPr lang="en-US" sz="1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672786A7-C3EA-4732-B58C-746008C9913C}" type="slidenum">
              <a:t>5</a:t>
            </a:fld>
          </a:p>
        </p:txBody>
      </p:sp>
      <p:sp>
        <p:nvSpPr>
          <p:cNvPr id="5" name="PlaceHolder 4"/>
          <p:cNvSpPr>
            <a:spLocks noGrp="1"/>
          </p:cNvSpPr>
          <p:nvPr>
            <p:ph type="dt" idx="10"/>
          </p:nvPr>
        </p:nvSpPr>
        <p:spPr/>
        <p:txBody>
          <a:bodyPr/>
          <a:p>
            <a:fld id="{EF23BC24-79A5-4D7B-B71E-608420F40E92}" type="datetime1">
              <a:rPr lang="en-IN"/>
              <a:t>16/10/2026</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Module 3: Methods &amp; Arrays</a:t>
            </a:r>
            <a:endParaRPr lang="en-US" sz="4400" b="0" u="none" strike="noStrike">
              <a:solidFill>
                <a:schemeClr val="dk1"/>
              </a:solidFill>
              <a:effectLst/>
              <a:uFillTx/>
              <a:latin typeface="Aptos Display"/>
            </a:endParaRPr>
          </a:p>
        </p:txBody>
      </p:sp>
      <p:sp>
        <p:nvSpPr>
          <p:cNvPr id="80"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Methods: </a:t>
            </a:r>
            <a:r>
              <a:rPr lang="en-IN" sz="1800" b="0" u="none" strike="noStrike">
                <a:solidFill>
                  <a:schemeClr val="dk1"/>
                </a:solidFill>
                <a:effectLst/>
                <a:uFillTx/>
                <a:latin typeface="Aptos"/>
              </a:rPr>
              <a:t>definition, invocation, parameter passing, return values, overloading</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Recursion: </a:t>
            </a:r>
            <a:r>
              <a:rPr lang="en-IN" sz="1800" b="0" u="none" strike="noStrike">
                <a:solidFill>
                  <a:schemeClr val="dk1"/>
                </a:solidFill>
                <a:effectLst/>
                <a:uFillTx/>
                <a:latin typeface="Aptos"/>
              </a:rPr>
              <a:t>base case and recursive case</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Loops: </a:t>
            </a:r>
            <a:r>
              <a:rPr lang="en-IN" sz="1800" b="0" u="none" strike="noStrike">
                <a:solidFill>
                  <a:schemeClr val="dk1"/>
                </a:solidFill>
                <a:effectLst/>
                <a:uFillTx/>
                <a:latin typeface="Aptos"/>
              </a:rPr>
              <a:t>enhanced for-each loop</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1D arrays: </a:t>
            </a:r>
            <a:r>
              <a:rPr lang="en-IN" sz="1800" b="0" u="none" strike="noStrike">
                <a:solidFill>
                  <a:schemeClr val="dk1"/>
                </a:solidFill>
                <a:effectLst/>
                <a:uFillTx/>
                <a:latin typeface="Aptos"/>
              </a:rPr>
              <a:t>traversal, searching, summation, average, counting</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2D arrays: </a:t>
            </a:r>
            <a:r>
              <a:rPr lang="en-IN" sz="1800" b="0" u="none" strike="noStrike">
                <a:solidFill>
                  <a:schemeClr val="dk1"/>
                </a:solidFill>
                <a:effectLst/>
                <a:uFillTx/>
                <a:latin typeface="Aptos"/>
              </a:rPr>
              <a:t>matrix arithmetic</a:t>
            </a:r>
            <a:endParaRPr lang="en-US" sz="1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443044BC-2BC4-4363-996D-03197124EC87}" type="slidenum">
              <a:t>6</a:t>
            </a:fld>
          </a:p>
        </p:txBody>
      </p:sp>
      <p:sp>
        <p:nvSpPr>
          <p:cNvPr id="5" name="PlaceHolder 4"/>
          <p:cNvSpPr>
            <a:spLocks noGrp="1"/>
          </p:cNvSpPr>
          <p:nvPr>
            <p:ph type="dt" idx="10"/>
          </p:nvPr>
        </p:nvSpPr>
        <p:spPr/>
        <p:txBody>
          <a:bodyPr/>
          <a:p>
            <a:fld id="{BE2812B0-B983-4751-A0ED-28C2B91F6981}" type="datetime1">
              <a:rPr lang="en-IN"/>
              <a:t>16/10/2026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Module 4: OOP &amp; Exceptions</a:t>
            </a:r>
            <a:endParaRPr lang="en-US" sz="4400" b="0" u="none" strike="noStrike">
              <a:solidFill>
                <a:schemeClr val="dk1"/>
              </a:solidFill>
              <a:effectLst/>
              <a:uFillTx/>
              <a:latin typeface="Aptos Display"/>
            </a:endParaRPr>
          </a:p>
        </p:txBody>
      </p:sp>
      <p:sp>
        <p:nvSpPr>
          <p:cNvPr id="82"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Classes and objects: </a:t>
            </a:r>
            <a:r>
              <a:rPr lang="en-IN" sz="1800" b="0" u="none" strike="noStrike">
                <a:solidFill>
                  <a:schemeClr val="dk1"/>
                </a:solidFill>
                <a:effectLst/>
                <a:uFillTx/>
                <a:latin typeface="Aptos"/>
              </a:rPr>
              <a:t>fields, methods, new, null, constructors (default, parameterized, overloading), this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Encapsulation: </a:t>
            </a:r>
            <a:r>
              <a:rPr lang="en-IN" sz="1800" b="0" u="none" strike="noStrike">
                <a:solidFill>
                  <a:schemeClr val="dk1"/>
                </a:solidFill>
                <a:effectLst/>
                <a:uFillTx/>
                <a:latin typeface="Aptos"/>
              </a:rPr>
              <a:t>private fields, accessors/mutators, static members, toString()</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Inheritance: </a:t>
            </a:r>
            <a:r>
              <a:rPr lang="en-IN" sz="1800" b="0" u="none" strike="noStrike">
                <a:solidFill>
                  <a:schemeClr val="dk1"/>
                </a:solidFill>
                <a:effectLst/>
                <a:uFillTx/>
                <a:latin typeface="Aptos"/>
              </a:rPr>
              <a:t>is-a relationships, method overriding, interfaces, programming to interfaces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Exceptions: </a:t>
            </a:r>
            <a:r>
              <a:rPr lang="en-IN" sz="1800" b="0" u="none" strike="noStrike">
                <a:solidFill>
                  <a:schemeClr val="dk1"/>
                </a:solidFill>
                <a:effectLst/>
                <a:uFillTx/>
                <a:latin typeface="Aptos"/>
              </a:rPr>
              <a:t>checked vs unchecked, try-catch-finally, multi-catch, throw, throws</a:t>
            </a:r>
            <a:endParaRPr lang="en-US" sz="1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B3172021-4A94-4235-8055-52E7AE8D2CAC}" type="slidenum">
              <a:t>7</a:t>
            </a:fld>
          </a:p>
        </p:txBody>
      </p:sp>
      <p:sp>
        <p:nvSpPr>
          <p:cNvPr id="5" name="PlaceHolder 4"/>
          <p:cNvSpPr>
            <a:spLocks noGrp="1"/>
          </p:cNvSpPr>
          <p:nvPr>
            <p:ph type="dt" idx="10"/>
          </p:nvPr>
        </p:nvSpPr>
        <p:spPr/>
        <p:txBody>
          <a:bodyPr/>
          <a:p>
            <a:fld id="{B6496096-80F4-4746-A5D9-238A76127FE0}" type="datetime1">
              <a:rPr lang="en-IN"/>
              <a:t>16/10/2026</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Module 5: Strings &amp; File I/O</a:t>
            </a:r>
            <a:endParaRPr lang="en-US" sz="4400" b="0" u="none" strike="noStrike">
              <a:solidFill>
                <a:schemeClr val="dk1"/>
              </a:solidFill>
              <a:effectLst/>
              <a:uFillTx/>
              <a:latin typeface="Aptos Display"/>
            </a:endParaRPr>
          </a:p>
        </p:txBody>
      </p:sp>
      <p:sp>
        <p:nvSpPr>
          <p:cNvPr id="84"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Strings: </a:t>
            </a:r>
            <a:r>
              <a:rPr lang="en-IN" sz="1800" b="0" u="none" strike="noStrike">
                <a:solidFill>
                  <a:schemeClr val="dk1"/>
                </a:solidFill>
                <a:effectLst/>
                <a:uFillTx/>
                <a:latin typeface="Aptos"/>
              </a:rPr>
              <a:t>immutability, length, substring, comparison (equals vs ==), StringBuilder and StringBuffer</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Text handling: </a:t>
            </a:r>
            <a:r>
              <a:rPr lang="en-IN" sz="1800" b="0" u="none" strike="noStrike">
                <a:solidFill>
                  <a:schemeClr val="dk1"/>
                </a:solidFill>
                <a:effectLst/>
                <a:uFillTx/>
                <a:latin typeface="Aptos"/>
              </a:rPr>
              <a:t>split(), join(), trimming, validation, tokenization</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Library algorithms: </a:t>
            </a:r>
            <a:r>
              <a:rPr lang="en-IN" sz="1800" b="0" u="none" strike="noStrike">
                <a:solidFill>
                  <a:schemeClr val="dk1"/>
                </a:solidFill>
                <a:effectLst/>
                <a:uFillTx/>
                <a:latin typeface="Aptos"/>
              </a:rPr>
              <a:t>Arrays.sort(), Collections.sort(), binarySearch(), Comparable and Comparator</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File I/O: </a:t>
            </a:r>
            <a:r>
              <a:rPr lang="en-IN" sz="1800" b="0" u="none" strike="noStrike">
                <a:solidFill>
                  <a:schemeClr val="dk1"/>
                </a:solidFill>
                <a:effectLst/>
                <a:uFillTx/>
                <a:latin typeface="Aptos"/>
              </a:rPr>
              <a:t>Files and Path, buffered readers/writers, try-with-resources</a:t>
            </a:r>
            <a:endParaRPr lang="en-US" sz="1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1AA19F6B-68FF-499B-8703-42F618722F9E}" type="slidenum">
              <a:t>8</a:t>
            </a:fld>
          </a:p>
        </p:txBody>
      </p:sp>
      <p:sp>
        <p:nvSpPr>
          <p:cNvPr id="5" name="PlaceHolder 4"/>
          <p:cNvSpPr>
            <a:spLocks noGrp="1"/>
          </p:cNvSpPr>
          <p:nvPr>
            <p:ph type="dt" idx="10"/>
          </p:nvPr>
        </p:nvSpPr>
        <p:spPr/>
        <p:txBody>
          <a:bodyPr/>
          <a:p>
            <a:fld id="{A44153CE-A285-46D8-B75B-9A49B360BD60}" type="datetime1">
              <a:rPr lang="en-IN"/>
              <a:t>16/10/2026</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Module 6: Collections &amp; Streams</a:t>
            </a:r>
            <a:endParaRPr lang="en-US" sz="4400" b="0" u="none" strike="noStrike">
              <a:solidFill>
                <a:schemeClr val="dk1"/>
              </a:solidFill>
              <a:effectLst/>
              <a:uFillTx/>
              <a:latin typeface="Aptos Display"/>
            </a:endParaRPr>
          </a:p>
        </p:txBody>
      </p:sp>
      <p:sp>
        <p:nvSpPr>
          <p:cNvPr id="8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Collections: </a:t>
            </a:r>
            <a:r>
              <a:rPr lang="en-IN" sz="1800" b="0" u="none" strike="noStrike">
                <a:solidFill>
                  <a:schemeClr val="dk1"/>
                </a:solidFill>
                <a:effectLst/>
                <a:uFillTx/>
                <a:latin typeface="Aptos"/>
              </a:rPr>
              <a:t>List, Set, Map using ArrayList, HashMap, HashSet; generics and autoboxing</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Functional style: </a:t>
            </a:r>
            <a:r>
              <a:rPr lang="en-IN" sz="1800" b="0" u="none" strike="noStrike">
                <a:solidFill>
                  <a:schemeClr val="dk1"/>
                </a:solidFill>
                <a:effectLst/>
                <a:uFillTx/>
                <a:latin typeface="Aptos"/>
              </a:rPr>
              <a:t>lambda expressions, method references, Predicate, Function, Consumer, Supplier</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Streams: </a:t>
            </a:r>
            <a:r>
              <a:rPr lang="en-IN" sz="1800" b="0" u="none" strike="noStrike">
                <a:solidFill>
                  <a:schemeClr val="dk1"/>
                </a:solidFill>
                <a:effectLst/>
                <a:uFillTx/>
                <a:latin typeface="Aptos"/>
              </a:rPr>
              <a:t>filter, map, sorted, distinct, limit; forEach, collect, count, reduce</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1800" b="1" u="none" strike="noStrike">
                <a:solidFill>
                  <a:schemeClr val="dk1"/>
                </a:solidFill>
                <a:effectLst/>
                <a:uFillTx/>
                <a:latin typeface="Aptos"/>
              </a:rPr>
              <a:t>Collectors: </a:t>
            </a:r>
            <a:r>
              <a:rPr lang="en-IN" sz="1800" b="0" u="none" strike="noStrike">
                <a:solidFill>
                  <a:schemeClr val="dk1"/>
                </a:solidFill>
                <a:effectLst/>
                <a:uFillTx/>
                <a:latin typeface="Aptos"/>
              </a:rPr>
              <a:t>toList, groupingBy, counting, joining</a:t>
            </a:r>
            <a:endParaRPr lang="en-US" sz="1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E5355A9F-958E-4CAB-9E9F-1780D6DC131B}" type="slidenum">
              <a:t>9</a:t>
            </a:fld>
          </a:p>
        </p:txBody>
      </p:sp>
      <p:sp>
        <p:nvSpPr>
          <p:cNvPr id="5" name="PlaceHolder 4"/>
          <p:cNvSpPr>
            <a:spLocks noGrp="1"/>
          </p:cNvSpPr>
          <p:nvPr>
            <p:ph type="dt" idx="10"/>
          </p:nvPr>
        </p:nvSpPr>
        <p:spPr/>
        <p:txBody>
          <a:bodyPr/>
          <a:p>
            <a:fld id="{BBFB2509-C6A6-478D-A4AB-9A4191A0EE91}" type="datetime1">
              <a:rPr lang="en-IN"/>
              <a:t>16/10/2026</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Conclusion</a:t>
            </a:r>
            <a:endParaRPr lang="en-US" sz="4400" b="0" u="none" strike="noStrike">
              <a:solidFill>
                <a:schemeClr val="dk1"/>
              </a:solidFill>
              <a:effectLst/>
              <a:uFillTx/>
              <a:latin typeface="Aptos Display"/>
            </a:endParaRPr>
          </a:p>
        </p:txBody>
      </p:sp>
      <p:sp>
        <p:nvSpPr>
          <p:cNvPr id="88"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a:bodyPr>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Complete solution: </a:t>
            </a:r>
            <a:r>
              <a:rPr lang="en-IN" sz="2000" b="0" u="none" strike="noStrike">
                <a:solidFill>
                  <a:schemeClr val="dk1"/>
                </a:solidFill>
                <a:effectLst/>
                <a:uFillTx/>
                <a:latin typeface="Aptos"/>
              </a:rPr>
              <a:t>the Car Rental Fleet Manager covers 4 features: add vehicles, rent car, return car and maintenance tracking.</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4 control statements: </a:t>
            </a:r>
            <a:r>
              <a:rPr lang="en-IN" sz="2000" b="0" u="none" strike="noStrike">
                <a:solidFill>
                  <a:schemeClr val="dk1"/>
                </a:solidFill>
                <a:effectLst/>
                <a:uFillTx/>
                <a:latin typeface="Aptos"/>
              </a:rPr>
              <a:t>if-else checks availability, switch handles vehicle type, for loop displays the fleet, while loop runs the rental menu.</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IN" sz="2000" b="1" u="none" strike="noStrike">
                <a:solidFill>
                  <a:schemeClr val="dk1"/>
                </a:solidFill>
                <a:effectLst/>
                <a:uFillTx/>
                <a:latin typeface="Aptos"/>
              </a:rPr>
              <a:t>Takeaway: </a:t>
            </a:r>
            <a:r>
              <a:rPr lang="en-IN" sz="2000" b="0" u="none" strike="noStrike">
                <a:solidFill>
                  <a:schemeClr val="dk1"/>
                </a:solidFill>
                <a:effectLst/>
                <a:uFillTx/>
                <a:latin typeface="Aptos"/>
              </a:rPr>
              <a:t>a few simple programming tools, used the right way, can solve a real everyday business problem.</a:t>
            </a:r>
            <a:endParaRPr lang="en-US" sz="20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9E4EE13D-854F-4FC2-8184-F82AC8609585}" type="slidenum">
              <a:t>10</a:t>
            </a:fld>
          </a:p>
        </p:txBody>
      </p:sp>
      <p:sp>
        <p:nvSpPr>
          <p:cNvPr id="5" name="PlaceHolder 4"/>
          <p:cNvSpPr>
            <a:spLocks noGrp="1"/>
          </p:cNvSpPr>
          <p:nvPr>
            <p:ph type="dt" idx="10"/>
          </p:nvPr>
        </p:nvSpPr>
        <p:spPr/>
        <p:txBody>
          <a:bodyPr/>
          <a:p>
            <a:fld id="{68CE9B9E-642E-4CB2-B4F0-EDD910D1DF13}" type="datetime1">
              <a:rPr lang="en-IN"/>
              <a:t>16/10/2026</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Screen Shots</a:t>
            </a:r>
            <a:endParaRPr lang="en-US" sz="4400" b="0" u="none" strike="noStrike">
              <a:solidFill>
                <a:schemeClr val="dk1"/>
              </a:solidFill>
              <a:effectLst/>
              <a:uFillTx/>
              <a:latin typeface="Aptos Display"/>
            </a:endParaRPr>
          </a:p>
        </p:txBody>
      </p:sp>
      <p:sp>
        <p:nvSpPr>
          <p:cNvPr id="90"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Aptos"/>
            </a:endParaRPr>
          </a:p>
        </p:txBody>
      </p:sp>
      <p:pic>
        <p:nvPicPr>
          <p:cNvPr id="91" name=""/>
          <p:cNvPicPr/>
          <p:nvPr/>
        </p:nvPicPr>
        <p:blipFill>
          <a:blip r:embed="rId1"/>
          <a:stretch/>
        </p:blipFill>
        <p:spPr>
          <a:xfrm>
            <a:off x="756720" y="1381320"/>
            <a:ext cx="11255040" cy="4585680"/>
          </a:xfrm>
          <a:prstGeom prst="rect">
            <a:avLst/>
          </a:prstGeom>
          <a:noFill/>
          <a:ln w="38160">
            <a:noFill/>
          </a:ln>
        </p:spPr>
      </p:pic>
      <p:sp>
        <p:nvSpPr>
          <p:cNvPr id="4" name="PlaceHolder 3"/>
          <p:cNvSpPr>
            <a:spLocks noGrp="1"/>
          </p:cNvSpPr>
          <p:nvPr>
            <p:ph type="sldNum" idx="12"/>
          </p:nvPr>
        </p:nvSpPr>
        <p:spPr/>
        <p:txBody>
          <a:bodyPr/>
          <a:p>
            <a:fld id="{05E6B0FD-A8DF-4D18-99DB-8DE185293D8B}" type="slidenum">
              <a:t>11</a:t>
            </a:fld>
          </a:p>
        </p:txBody>
      </p:sp>
      <p:sp>
        <p:nvSpPr>
          <p:cNvPr id="5" name="PlaceHolder 4"/>
          <p:cNvSpPr>
            <a:spLocks noGrp="1"/>
          </p:cNvSpPr>
          <p:nvPr>
            <p:ph type="dt" idx="10"/>
          </p:nvPr>
        </p:nvSpPr>
        <p:spPr/>
        <p:txBody>
          <a:bodyPr/>
          <a:p>
            <a:fld id="{46C12B8B-3CE9-4800-A249-D9960A2A60A3}" type="datetime1">
              <a:rPr lang="en-IN"/>
              <a:t>16/10/2026</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p>
            <a:pPr indent="0" algn="l" defTabSz="914400">
              <a:lnSpc>
                <a:spcPct val="90000"/>
              </a:lnSpc>
              <a:buNone/>
            </a:pPr>
            <a:r>
              <a:rPr lang="en-IN" sz="4400" b="0" u="none" strike="noStrike">
                <a:solidFill>
                  <a:schemeClr val="dk1"/>
                </a:solidFill>
                <a:effectLst/>
                <a:uFillTx/>
                <a:latin typeface="Aptos Display"/>
              </a:rPr>
              <a:t>Geo Tag Photo and git hub link</a:t>
            </a:r>
            <a:endParaRPr lang="en-US" sz="4400" b="0" u="none" strike="noStrike">
              <a:solidFill>
                <a:schemeClr val="dk1"/>
              </a:solidFill>
              <a:effectLst/>
              <a:uFillTx/>
              <a:latin typeface="Aptos Display"/>
            </a:endParaRPr>
          </a:p>
        </p:txBody>
      </p:sp>
      <p:sp>
        <p:nvSpPr>
          <p:cNvPr id="93"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p>
            <a:pPr indent="0" algn="l" defTabSz="914400">
              <a:lnSpc>
                <a:spcPct val="90000"/>
              </a:lnSpc>
              <a:spcBef>
                <a:spcPts val="1001"/>
              </a:spcBef>
              <a:buNone/>
            </a:pPr>
            <a:endParaRPr lang="en-US" sz="2800" b="0" u="none" strike="noStrike">
              <a:solidFill>
                <a:schemeClr val="dk1"/>
              </a:solidFill>
              <a:effectLst/>
              <a:uFillTx/>
              <a:latin typeface="Aptos"/>
            </a:endParaRPr>
          </a:p>
        </p:txBody>
      </p:sp>
      <p:sp>
        <p:nvSpPr>
          <p:cNvPr id="4" name="PlaceHolder 3"/>
          <p:cNvSpPr>
            <a:spLocks noGrp="1"/>
          </p:cNvSpPr>
          <p:nvPr>
            <p:ph type="sldNum" idx="12"/>
          </p:nvPr>
        </p:nvSpPr>
        <p:spPr/>
        <p:txBody>
          <a:bodyPr/>
          <a:p>
            <a:fld id="{8F5BF2A3-346C-47EA-861D-BC573E07766E}" type="slidenum">
              <a:t>12</a:t>
            </a:fld>
          </a:p>
        </p:txBody>
      </p:sp>
      <p:sp>
        <p:nvSpPr>
          <p:cNvPr id="5" name="PlaceHolder 4"/>
          <p:cNvSpPr>
            <a:spLocks noGrp="1"/>
          </p:cNvSpPr>
          <p:nvPr>
            <p:ph type="dt" idx="10"/>
          </p:nvPr>
        </p:nvSpPr>
        <p:spPr/>
        <p:txBody>
          <a:bodyPr/>
          <a:p>
            <a:fld id="{CF1EACDD-8600-4E69-A3B2-7AE10CA736C4}" type="datetime1">
              <a:rPr lang="en-IN"/>
              <a:t>16/10/2026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15</TotalTime>
  <Application>LibreOffice/26.8.0.3$Windows_X86_64 LibreOffice_project/bce0998afefdbc355585ca324285661a2170ba77</Application>
  <AppVersion>15.0000</AppVersion>
  <Words>75</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2026-09-15T09:57:10Z</dcterms:created>
  <dc:creator>TSP MADHURI</dc:creator>
  <dc:description/>
  <dc:language>en-IN</dc:language>
  <cp:lastModifiedBy/>
  <dcterms:modified xsi:type="dcterms:W3CDTF">2026-10-16T09:41:14Z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12</vt:i4>
  </property>
</Properties>
</file>